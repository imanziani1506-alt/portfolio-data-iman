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5" r:id="rId9"/>
    <p:sldId id="261" r:id="rId10"/>
    <p:sldId id="266" r:id="rId11"/>
    <p:sldId id="267" r:id="rId12"/>
    <p:sldId id="262" r:id="rId13"/>
    <p:sldId id="269" r:id="rId14"/>
    <p:sldId id="270" r:id="rId15"/>
    <p:sldId id="268" r:id="rId16"/>
  </p:sldIdLst>
  <p:sldSz cx="9144000" cy="5143500" type="screen16x9"/>
  <p:notesSz cx="6858000" cy="9144000"/>
  <p:embeddedFontLst>
    <p:embeddedFont>
      <p:font typeface="Bahnschrift Light" panose="020B0502040204020203" pitchFamily="34" charset="0"/>
      <p:regular r:id="rId18"/>
    </p:embeddedFont>
    <p:embeddedFont>
      <p:font typeface="Maven Pro" panose="020B0604020202020204" charset="0"/>
      <p:regular r:id="rId19"/>
      <p:bold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" y="9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7d0a8579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81" name="Google Shape;281;g367d0a8579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7d0a8579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87" name="Google Shape;287;g367d0a8579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7d0a85795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3" name="Google Shape;293;g367d0a85795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7d0a85795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99" name="Google Shape;299;g367d0a85795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7d0a85795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05" name="Google Shape;305;g367d0a85795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7d0a85795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11" name="Google Shape;311;g367d0a85795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497542" y="516325"/>
            <a:ext cx="4780429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</a:t>
            </a:r>
            <a:r>
              <a:rPr lang="fr" dirty="0"/>
              <a:t>es clés de pérformace des joueurs NBA</a:t>
            </a:r>
            <a:endParaRPr dirty="0"/>
          </a:p>
        </p:txBody>
      </p:sp>
      <p:pic>
        <p:nvPicPr>
          <p:cNvPr id="278" name="Google Shape;278;p13" descr="Titre: Clés de pérformances des joueurs NB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00" y="2389225"/>
            <a:ext cx="2308200" cy="23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229842" y="652255"/>
            <a:ext cx="7030500" cy="692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Indicateurs étudiés :</a:t>
            </a:r>
            <a:br>
              <a:rPr lang="fr-FR" dirty="0"/>
            </a:b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D41656D3-550F-849E-5760-533E592201E3}"/>
              </a:ext>
            </a:extLst>
          </p:cNvPr>
          <p:cNvSpPr/>
          <p:nvPr/>
        </p:nvSpPr>
        <p:spPr>
          <a:xfrm>
            <a:off x="1761566" y="1855694"/>
            <a:ext cx="2420470" cy="312586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Points marqués en moyen par match (PTS)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Tirs réussis par match (FGM)</a:t>
            </a: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424242"/>
              </a:buClr>
              <a:buSzPts val="13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Pourcentage de tirs réussis (%FG)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424242"/>
              </a:buClr>
              <a:buSzPts val="13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Pourcentage de réussite à 3 points (3F%)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424242"/>
              </a:buClr>
              <a:buSzPts val="13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Pourcentage de réussite aux lancers francs ( FT%)</a:t>
            </a:r>
          </a:p>
          <a:p>
            <a:pPr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424242"/>
              </a:buClr>
              <a:buSzPts val="1300"/>
              <a:tabLst/>
              <a:defRPr/>
            </a:pP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4B314FD-8830-5F47-E19A-CFC6BAE13490}"/>
              </a:ext>
            </a:extLst>
          </p:cNvPr>
          <p:cNvSpPr/>
          <p:nvPr/>
        </p:nvSpPr>
        <p:spPr>
          <a:xfrm>
            <a:off x="5170393" y="1855694"/>
            <a:ext cx="2292723" cy="31521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1400" b="0" i="0" u="sng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Interceptions (STL)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Contres (BLK)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Rebonds défensifs (DREB)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Rebonds offensifs (OREB)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 décisives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Evaluation Global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tabLst/>
              <a:defRPr/>
            </a:pPr>
            <a:endParaRPr lang="fr-FR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tabLst/>
              <a:defRPr/>
            </a:pPr>
            <a:endParaRPr lang="fr-FR" sz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7A12E32-9073-02E5-8D38-218E936B1D6C}"/>
              </a:ext>
            </a:extLst>
          </p:cNvPr>
          <p:cNvSpPr txBox="1"/>
          <p:nvPr/>
        </p:nvSpPr>
        <p:spPr>
          <a:xfrm>
            <a:off x="598393" y="13262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fr-FR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Sources</a:t>
            </a: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: Statistiques officielles NBA saison 2024/2025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Méthodologie d’analyse</a:t>
            </a: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EE1964C-F5EE-1A7D-DFD1-BD2EF7D8C0CB}"/>
              </a:ext>
            </a:extLst>
          </p:cNvPr>
          <p:cNvSpPr/>
          <p:nvPr/>
        </p:nvSpPr>
        <p:spPr>
          <a:xfrm>
            <a:off x="1868577" y="2064124"/>
            <a:ext cx="5702118" cy="16002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1. Comprendre les variables (Points, rebonds, passes,% tirs…)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2. Analyse descriptive (somme, tri, recherchev, tableaux croisés                   dynamique, mise en forme conditionnelle…)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fr-FR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Visualiser les données (Graphique, comparaison entre les joueurs)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fr-FR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Identifier les joueurs les plus performants Top15/Top3.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fr-FR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Interpréter les résultats et tirer des conclusions.</a:t>
            </a:r>
            <a:endParaRPr kumimoji="0" lang="fr-FR" sz="14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Saison 2024/2025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B5AAE4A-7C88-8838-F36A-C4D2A475A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591063"/>
              </p:ext>
            </p:extLst>
          </p:nvPr>
        </p:nvGraphicFramePr>
        <p:xfrm>
          <a:off x="1042146" y="1340355"/>
          <a:ext cx="7241242" cy="3660109"/>
        </p:xfrm>
        <a:graphic>
          <a:graphicData uri="http://schemas.openxmlformats.org/drawingml/2006/table">
            <a:tbl>
              <a:tblPr/>
              <a:tblGrid>
                <a:gridCol w="1463001">
                  <a:extLst>
                    <a:ext uri="{9D8B030D-6E8A-4147-A177-3AD203B41FA5}">
                      <a16:colId xmlns:a16="http://schemas.microsoft.com/office/drawing/2014/main" val="2675064569"/>
                    </a:ext>
                  </a:extLst>
                </a:gridCol>
                <a:gridCol w="1844118">
                  <a:extLst>
                    <a:ext uri="{9D8B030D-6E8A-4147-A177-3AD203B41FA5}">
                      <a16:colId xmlns:a16="http://schemas.microsoft.com/office/drawing/2014/main" val="285841450"/>
                    </a:ext>
                  </a:extLst>
                </a:gridCol>
                <a:gridCol w="2102297">
                  <a:extLst>
                    <a:ext uri="{9D8B030D-6E8A-4147-A177-3AD203B41FA5}">
                      <a16:colId xmlns:a16="http://schemas.microsoft.com/office/drawing/2014/main" val="2977260691"/>
                    </a:ext>
                  </a:extLst>
                </a:gridCol>
                <a:gridCol w="1831826">
                  <a:extLst>
                    <a:ext uri="{9D8B030D-6E8A-4147-A177-3AD203B41FA5}">
                      <a16:colId xmlns:a16="http://schemas.microsoft.com/office/drawing/2014/main" val="3922865397"/>
                    </a:ext>
                  </a:extLst>
                </a:gridCol>
              </a:tblGrid>
              <a:tr h="2310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Code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 complet de l'équipe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points total par équipe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joueur par équipe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39284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ATL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Atlanta Hawks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9689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80002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BKN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Brooklyn Nets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7999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559706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Boston Celtics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9551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457572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Charlotte Hornets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185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Chicago Bulls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9230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390934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CLE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Cleveland Cavaliers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10180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308803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DAL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Dallas Mavericks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9970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67996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DEN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Denver Nuggets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9899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46927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DET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Detroit Pistons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10292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877255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GSW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Golden State Warriors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8288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99542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Houston Rockets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9515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70560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Indiana Pacers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9630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07927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LAC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Los Angeles Clippers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9050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888649"/>
                  </a:ext>
                </a:extLst>
              </a:tr>
              <a:tr h="1541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LAL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Los Angeles Lakers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8691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679659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Memphis Grizzlies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9552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698397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MIA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Miami Heat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9828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35477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MIL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Milwaukee Bucks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10016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369989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Minnesota Timberwolves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9523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349332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NOP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 Orleans Pelicans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8763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93386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NYK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New York Knicks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9540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030193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OKC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Oklahoma City Thunder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9880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038033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ORL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Orlando Magic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8648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34390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PHI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Philadelphia 76ers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9142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152963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PHX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Phoenix Suns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450075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Portland Trail Blazers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9113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925117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SAC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Sacramento Kings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9786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580089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San Antonio Spurs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10198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47045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TOR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Toronto Raptors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8963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486555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UTA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Utah Jazz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9096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2961"/>
                  </a:ext>
                </a:extLst>
              </a:tr>
              <a:tr h="1061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B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Washington Wizards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7986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246" marR="6246" marT="624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8339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Tableau qui représente les points et l'age par équipe">
            <a:extLst>
              <a:ext uri="{FF2B5EF4-FFF2-40B4-BE49-F238E27FC236}">
                <a16:creationId xmlns:a16="http://schemas.microsoft.com/office/drawing/2014/main" id="{019A403F-1AC0-DD02-7462-B11FCAFA8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25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389724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d’une équipe ( Charlotte Hornets)</a:t>
            </a:r>
            <a:endParaRPr dirty="0"/>
          </a:p>
        </p:txBody>
      </p:sp>
      <p:pic>
        <p:nvPicPr>
          <p:cNvPr id="2" name="Image 1" descr="Analyse d'une équie ( Charlotte Hornets)">
            <a:extLst>
              <a:ext uri="{FF2B5EF4-FFF2-40B4-BE49-F238E27FC236}">
                <a16:creationId xmlns:a16="http://schemas.microsoft.com/office/drawing/2014/main" id="{A5323B0B-48D3-1C92-1D55-D98D0FBE8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6" y="1479177"/>
            <a:ext cx="8713694" cy="31995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graphique qui represente les rebonds offensifs et defensifs ainsi l'impact de joueur sur l 'equipe">
            <a:extLst>
              <a:ext uri="{FF2B5EF4-FFF2-40B4-BE49-F238E27FC236}">
                <a16:creationId xmlns:a16="http://schemas.microsoft.com/office/drawing/2014/main" id="{3F3D4554-A55E-5AB4-55D2-46CBEA547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2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graphique qui represente les passe décisives,les interceptions et les contres">
            <a:extLst>
              <a:ext uri="{FF2B5EF4-FFF2-40B4-BE49-F238E27FC236}">
                <a16:creationId xmlns:a16="http://schemas.microsoft.com/office/drawing/2014/main" id="{D92858AE-046B-7B88-8E6C-F006F7EA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8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du top 15 (points)</a:t>
            </a:r>
            <a:endParaRPr/>
          </a:p>
        </p:txBody>
      </p:sp>
      <p:pic>
        <p:nvPicPr>
          <p:cNvPr id="4" name="Image 3" descr="Tableau de top 15 des joueurs de la ligue qui represente les FGM,%de tirs réussis ,de réussite aux tirs à 3 points,de réussite aux lancers francs,de rebonds offensif,et l'estimation de l'impact du joueur">
            <a:extLst>
              <a:ext uri="{FF2B5EF4-FFF2-40B4-BE49-F238E27FC236}">
                <a16:creationId xmlns:a16="http://schemas.microsoft.com/office/drawing/2014/main" id="{921FF4ED-42CF-547D-F62A-2EABAB3C7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24" y="1512794"/>
            <a:ext cx="8922123" cy="33281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 graphique qui represente le nombre de points total et pourcentage des tirs réussis">
            <a:extLst>
              <a:ext uri="{FF2B5EF4-FFF2-40B4-BE49-F238E27FC236}">
                <a16:creationId xmlns:a16="http://schemas.microsoft.com/office/drawing/2014/main" id="{15912BCE-C709-948C-1813-B16D04C7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 graphique qui représente les tirs,tirs à 3 points et lancers francas réussis">
            <a:extLst>
              <a:ext uri="{FF2B5EF4-FFF2-40B4-BE49-F238E27FC236}">
                <a16:creationId xmlns:a16="http://schemas.microsoft.com/office/drawing/2014/main" id="{F57611A5-4C42-EA33-FC79-544A2524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7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Analyse des indicateurs de performances en pourcentages pour les 3 meilleurs joueurs</a:t>
            </a:r>
            <a:endParaRPr dirty="0"/>
          </a:p>
        </p:txBody>
      </p:sp>
      <p:pic>
        <p:nvPicPr>
          <p:cNvPr id="3" name="Image 2" descr="Analyste des indicateurs de performances en pourcentage pour le top3">
            <a:extLst>
              <a:ext uri="{FF2B5EF4-FFF2-40B4-BE49-F238E27FC236}">
                <a16:creationId xmlns:a16="http://schemas.microsoft.com/office/drawing/2014/main" id="{2890CCDE-11F1-FEEC-A688-8D02543B6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6" y="2157412"/>
            <a:ext cx="8686800" cy="9017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 graphique représente les indicateurs de performances en pourcentage par joueur">
            <a:extLst>
              <a:ext uri="{FF2B5EF4-FFF2-40B4-BE49-F238E27FC236}">
                <a16:creationId xmlns:a16="http://schemas.microsoft.com/office/drawing/2014/main" id="{06CB26A5-E2F7-9303-0972-4038F55B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1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EAEFC-3ED4-7ED5-4654-6149BB99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Clés de performance 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E1258ED-1380-C06E-929E-9630BBCA473F}"/>
              </a:ext>
            </a:extLst>
          </p:cNvPr>
          <p:cNvSpPr/>
          <p:nvPr/>
        </p:nvSpPr>
        <p:spPr>
          <a:xfrm>
            <a:off x="1721223" y="1694329"/>
            <a:ext cx="2850777" cy="12304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Scoring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75C965F-A1C4-9CB0-224F-AC435B36371A}"/>
              </a:ext>
            </a:extLst>
          </p:cNvPr>
          <p:cNvSpPr/>
          <p:nvPr/>
        </p:nvSpPr>
        <p:spPr>
          <a:xfrm>
            <a:off x="4713194" y="1694330"/>
            <a:ext cx="2850777" cy="12304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Création du jeu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CBFD966-5F14-B2F3-553B-00D4A1B4157D}"/>
              </a:ext>
            </a:extLst>
          </p:cNvPr>
          <p:cNvSpPr/>
          <p:nvPr/>
        </p:nvSpPr>
        <p:spPr>
          <a:xfrm>
            <a:off x="1721223" y="3021189"/>
            <a:ext cx="2850777" cy="12304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La défense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9BC62C8-8265-D57B-A9C6-617AD982F624}"/>
              </a:ext>
            </a:extLst>
          </p:cNvPr>
          <p:cNvSpPr/>
          <p:nvPr/>
        </p:nvSpPr>
        <p:spPr>
          <a:xfrm>
            <a:off x="4713194" y="3021190"/>
            <a:ext cx="2850777" cy="123040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Performance globale</a:t>
            </a:r>
          </a:p>
        </p:txBody>
      </p:sp>
    </p:spTree>
    <p:extLst>
      <p:ext uri="{BB962C8B-B14F-4D97-AF65-F5344CB8AC3E}">
        <p14:creationId xmlns:p14="http://schemas.microsoft.com/office/powerpoint/2010/main" val="259072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7EA71B-4EF9-B70F-37ED-B0FA2D27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00" y="598575"/>
            <a:ext cx="7030500" cy="725960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DFC3C75-34D5-E2AD-C900-2DD71CF8F744}"/>
              </a:ext>
            </a:extLst>
          </p:cNvPr>
          <p:cNvSpPr/>
          <p:nvPr/>
        </p:nvSpPr>
        <p:spPr>
          <a:xfrm>
            <a:off x="1444994" y="1670978"/>
            <a:ext cx="6078071" cy="20135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 La performance en NBA dépend de plusieurs facteurs statistiques.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Nunito"/>
              <a:buNone/>
              <a:tabLst/>
              <a:defRPr/>
            </a:pP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 Les joueurs les plus dominants excellent dans plusieurs catégories.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2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 Les statistiques permettent d'analyser et de comprendre ces performances.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Nunito"/>
              <a:buNone/>
              <a:tabLst/>
              <a:defRPr/>
            </a:pPr>
            <a:endParaRPr kumimoji="0" lang="fr-FR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Bahnschrift Light" panose="020B0502040204020203" pitchFamily="34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282292201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408</Words>
  <Application>Microsoft Office PowerPoint</Application>
  <PresentationFormat>Affichage à l'écran (16:9)</PresentationFormat>
  <Paragraphs>162</Paragraphs>
  <Slides>15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Wingdings</vt:lpstr>
      <vt:lpstr>Bahnschrift Light</vt:lpstr>
      <vt:lpstr>Nunito</vt:lpstr>
      <vt:lpstr>Maven Pro</vt:lpstr>
      <vt:lpstr>Calibri</vt:lpstr>
      <vt:lpstr>Momentum</vt:lpstr>
      <vt:lpstr>Les clés de pérformace des joueurs NBA</vt:lpstr>
      <vt:lpstr>Indicateurs étudiés : </vt:lpstr>
      <vt:lpstr>Méthodologie d’analyse</vt:lpstr>
      <vt:lpstr>Saison 2024/2025</vt:lpstr>
      <vt:lpstr>Présentation PowerPoint</vt:lpstr>
      <vt:lpstr>Analyse d’une équipe ( Charlotte Hornets)</vt:lpstr>
      <vt:lpstr>Présentation PowerPoint</vt:lpstr>
      <vt:lpstr>Présentation PowerPoint</vt:lpstr>
      <vt:lpstr>Analyse du top 15 (points)</vt:lpstr>
      <vt:lpstr>Présentation PowerPoint</vt:lpstr>
      <vt:lpstr>Présentation PowerPoint</vt:lpstr>
      <vt:lpstr>Analyse des indicateurs de performances en pourcentages pour les 3 meilleurs joueurs</vt:lpstr>
      <vt:lpstr>Présentation PowerPoint</vt:lpstr>
      <vt:lpstr>Clés de performance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Iman Benkacem</dc:creator>
  <cp:lastModifiedBy>Iman Benkacem</cp:lastModifiedBy>
  <cp:revision>21</cp:revision>
  <dcterms:modified xsi:type="dcterms:W3CDTF">2026-03-23T10:54:12Z</dcterms:modified>
</cp:coreProperties>
</file>